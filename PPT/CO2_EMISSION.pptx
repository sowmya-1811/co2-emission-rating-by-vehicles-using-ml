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3460750" cx="4610100"/>
  <p:notesSz cx="4610100" cy="3460750"/>
  <p:embeddedFontLst>
    <p:embeddedFont>
      <p:font typeface="Tahoma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g2a5LAqNAdO/Q1ScHqpk6v6jCt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61CCF6-1281-4B08-8082-A438E04AFF27}">
  <a:tblStyle styleId="{0A61CCF6-1281-4B08-8082-A438E04AFF2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08FAAB72-5E3C-408F-94BF-3151B4258AF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Tahoma-regular.fntdata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font" Target="fonts/Tahom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997075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611438" y="0"/>
            <a:ext cx="1997075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287713"/>
            <a:ext cx="1997075" cy="1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 txBox="1"/>
          <p:nvPr>
            <p:ph idx="1" type="body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1441450" y="260350"/>
            <a:ext cx="1727200" cy="129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type="title"/>
          </p:nvPr>
        </p:nvSpPr>
        <p:spPr>
          <a:xfrm>
            <a:off x="95300" y="59878"/>
            <a:ext cx="27495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" type="body"/>
          </p:nvPr>
        </p:nvSpPr>
        <p:spPr>
          <a:xfrm>
            <a:off x="479793" y="983449"/>
            <a:ext cx="3648710" cy="10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482854" y="3351784"/>
            <a:ext cx="57023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82854" y="3351784"/>
            <a:ext cx="57023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ctrTitle"/>
          </p:nvPr>
        </p:nvSpPr>
        <p:spPr>
          <a:xfrm>
            <a:off x="95300" y="59878"/>
            <a:ext cx="175006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subTitle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82854" y="3351784"/>
            <a:ext cx="57023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95300" y="59878"/>
            <a:ext cx="27495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2" type="body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82854" y="3351784"/>
            <a:ext cx="57023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/>
          <p:nvPr>
            <p:ph type="title"/>
          </p:nvPr>
        </p:nvSpPr>
        <p:spPr>
          <a:xfrm>
            <a:off x="95300" y="59878"/>
            <a:ext cx="27495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482854" y="3351784"/>
            <a:ext cx="57023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0" y="-12"/>
            <a:ext cx="4608195" cy="350520"/>
          </a:xfrm>
          <a:custGeom>
            <a:rect b="b" l="l" r="r" t="t"/>
            <a:pathLst>
              <a:path extrusionOk="0" h="350520" w="4608195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" name="Google Shape;11;p20"/>
          <p:cNvSpPr txBox="1"/>
          <p:nvPr>
            <p:ph type="title"/>
          </p:nvPr>
        </p:nvSpPr>
        <p:spPr>
          <a:xfrm>
            <a:off x="95300" y="59878"/>
            <a:ext cx="27495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0"/>
          <p:cNvSpPr txBox="1"/>
          <p:nvPr>
            <p:ph idx="1" type="body"/>
          </p:nvPr>
        </p:nvSpPr>
        <p:spPr>
          <a:xfrm>
            <a:off x="479793" y="983449"/>
            <a:ext cx="3648710" cy="10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82854" y="3351784"/>
            <a:ext cx="57023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12700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11" Type="http://schemas.openxmlformats.org/officeDocument/2006/relationships/slide" Target="/ppt/slides/slide14.xml"/><Relationship Id="rId10" Type="http://schemas.openxmlformats.org/officeDocument/2006/relationships/slide" Target="/ppt/slides/slide14.xml"/><Relationship Id="rId12" Type="http://schemas.openxmlformats.org/officeDocument/2006/relationships/slide" Target="/ppt/slides/slide14.xml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Relationship Id="rId6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Relationship Id="rId6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Relationship Id="rId6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Relationship Id="rId6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Relationship Id="rId6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14.xml"/><Relationship Id="rId4" Type="http://schemas.openxmlformats.org/officeDocument/2006/relationships/slide" Target="/ppt/slides/slide14.xml"/><Relationship Id="rId5" Type="http://schemas.openxmlformats.org/officeDocument/2006/relationships/slide" Target="/ppt/slides/slide14.xml"/><Relationship Id="rId6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slide" Target="/ppt/slides/slide14.xml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slide" Target="/ppt/slides/slide14.xml"/><Relationship Id="rId8" Type="http://schemas.openxmlformats.org/officeDocument/2006/relationships/slide" Target="/ppt/slides/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50037" y="32708"/>
            <a:ext cx="4483736" cy="1057018"/>
            <a:chOff x="87743" y="1051928"/>
            <a:chExt cx="4483736" cy="1057018"/>
          </a:xfrm>
        </p:grpSpPr>
        <p:sp>
          <p:nvSpPr>
            <p:cNvPr id="49" name="Google Shape;49;p1"/>
            <p:cNvSpPr/>
            <p:nvPr/>
          </p:nvSpPr>
          <p:spPr>
            <a:xfrm>
              <a:off x="87743" y="1051928"/>
              <a:ext cx="4432935" cy="82550"/>
            </a:xfrm>
            <a:custGeom>
              <a:rect b="b" l="l" r="r" t="t"/>
              <a:pathLst>
                <a:path extrusionOk="0" h="82550" w="443293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38544" y="1115171"/>
              <a:ext cx="4432935" cy="993775"/>
            </a:xfrm>
            <a:custGeom>
              <a:rect b="b" l="l" r="r" t="t"/>
              <a:pathLst>
                <a:path extrusionOk="0" h="993775" w="4432935">
                  <a:moveTo>
                    <a:pt x="4432566" y="0"/>
                  </a:moveTo>
                  <a:lnTo>
                    <a:pt x="0" y="0"/>
                  </a:lnTo>
                  <a:lnTo>
                    <a:pt x="0" y="993474"/>
                  </a:lnTo>
                  <a:lnTo>
                    <a:pt x="4432566" y="99347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87743" y="1096334"/>
              <a:ext cx="4432935" cy="962025"/>
            </a:xfrm>
            <a:custGeom>
              <a:rect b="b" l="l" r="r" t="t"/>
              <a:pathLst>
                <a:path extrusionOk="0" h="962025" w="4432935">
                  <a:moveTo>
                    <a:pt x="4432566" y="0"/>
                  </a:moveTo>
                  <a:lnTo>
                    <a:pt x="0" y="0"/>
                  </a:lnTo>
                  <a:lnTo>
                    <a:pt x="0" y="910710"/>
                  </a:lnTo>
                  <a:lnTo>
                    <a:pt x="4008" y="930434"/>
                  </a:lnTo>
                  <a:lnTo>
                    <a:pt x="14922" y="946587"/>
                  </a:lnTo>
                  <a:lnTo>
                    <a:pt x="31075" y="957502"/>
                  </a:lnTo>
                  <a:lnTo>
                    <a:pt x="50800" y="961510"/>
                  </a:lnTo>
                  <a:lnTo>
                    <a:pt x="4381765" y="961510"/>
                  </a:lnTo>
                  <a:lnTo>
                    <a:pt x="4401490" y="957502"/>
                  </a:lnTo>
                  <a:lnTo>
                    <a:pt x="4417643" y="946587"/>
                  </a:lnTo>
                  <a:lnTo>
                    <a:pt x="4428558" y="930434"/>
                  </a:lnTo>
                  <a:lnTo>
                    <a:pt x="4432566" y="91071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2" name="Google Shape;52;p1"/>
          <p:cNvSpPr txBox="1"/>
          <p:nvPr/>
        </p:nvSpPr>
        <p:spPr>
          <a:xfrm>
            <a:off x="50037" y="140703"/>
            <a:ext cx="4432935" cy="804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25">
            <a:spAutoFit/>
          </a:bodyPr>
          <a:lstStyle/>
          <a:p>
            <a:pPr indent="0" lvl="0" marL="520700" marR="615315" rtl="0" algn="ctr">
              <a:lnSpc>
                <a:spcPct val="107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aseline="-25000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Emission Rating by Vehicles Using Machine Learning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93980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 Project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" name="Google Shape;53;p1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54" name="Google Shape;54;p1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7" name="Google Shape;57;p1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58" name="Google Shape;58;p1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" name="Google Shape;59;p1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60" name="Google Shape;60;p1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850225" y="1442975"/>
            <a:ext cx="33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K. Sushanth(N210274)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S.Sowmya Nageswari (N210154)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>
            <p:ph type="title"/>
          </p:nvPr>
        </p:nvSpPr>
        <p:spPr>
          <a:xfrm>
            <a:off x="95300" y="59878"/>
            <a:ext cx="125285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Topics / Outline</a:t>
            </a:r>
            <a:endParaRPr/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089" y="792632"/>
            <a:ext cx="65265" cy="6526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/>
        </p:nvSpPr>
        <p:spPr>
          <a:xfrm>
            <a:off x="402932" y="708848"/>
            <a:ext cx="2669109" cy="1701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454025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Problem Statement &amp; Objectives Literature Survey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Workflow Diagram</a:t>
            </a:r>
            <a:endParaRPr/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Techniques and Methods (overview)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Methodology Algorithms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/>
          </a:p>
          <a:p>
            <a:pPr indent="0" lvl="0" marL="12700" marR="5080" rtl="0" algn="l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Results &amp; Tables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089" y="1013465"/>
            <a:ext cx="65265" cy="6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1089" y="1223498"/>
            <a:ext cx="65265" cy="6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1089" y="1433531"/>
            <a:ext cx="65265" cy="6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1089" y="1630210"/>
            <a:ext cx="65265" cy="6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1089" y="1853596"/>
            <a:ext cx="65265" cy="6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1089" y="2063576"/>
            <a:ext cx="65265" cy="652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2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77" name="Google Shape;77;p2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0" name="Google Shape;80;p2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Dept. ECE</a:t>
            </a:r>
            <a:endParaRPr/>
          </a:p>
        </p:txBody>
      </p:sp>
      <p:sp>
        <p:nvSpPr>
          <p:cNvPr id="81" name="Google Shape;81;p2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" name="Google Shape;82;p2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83" name="Google Shape;83;p2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pic>
        <p:nvPicPr>
          <p:cNvPr id="84" name="Google Shape;84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1089" y="2281294"/>
            <a:ext cx="65265" cy="65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type="title"/>
          </p:nvPr>
        </p:nvSpPr>
        <p:spPr>
          <a:xfrm>
            <a:off x="95300" y="59878"/>
            <a:ext cx="274955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 &amp; Objectives</a:t>
            </a:r>
            <a:endParaRPr/>
          </a:p>
        </p:txBody>
      </p:sp>
      <p:grpSp>
        <p:nvGrpSpPr>
          <p:cNvPr id="90" name="Google Shape;90;p3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91" name="Google Shape;91;p3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4" name="Google Shape;94;p3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3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97" name="Google Shape;97;p3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95250" y="434975"/>
            <a:ext cx="44196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200"/>
              <a:buFont typeface="Noto Sans Symbols"/>
              <a:buChar char="⮚"/>
            </a:pPr>
            <a:r>
              <a:rPr b="1" lang="en-US" sz="1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Project Domain :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Predictive Modelling and Environmental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Data Analytics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200"/>
              <a:buFont typeface="Noto Sans Symbols"/>
              <a:buChar char="⮚"/>
            </a:pPr>
            <a:r>
              <a:rPr b="1" lang="en-US" sz="1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Problem Statement :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develop a machine learning-based model that can accurately predict the CO2 emission of       vehicles using various performance parameters like engine   size , fuel type ,cylinders and identify whether a vehicle exceeds environmental emission standards for CO2.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200"/>
              <a:buFont typeface="Noto Sans Symbols"/>
              <a:buChar char="⮚"/>
            </a:pPr>
            <a:r>
              <a:rPr b="1" lang="en-US" sz="1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Need For Selecting 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  1.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Rising environmental Pollution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      2.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Testing is slow and Inefficient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1" lang="en-US" sz="1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for automated prediction using 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1" lang="en-US" sz="1200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Lack of Existing Accurate ML Solutions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    </a:t>
            </a:r>
            <a:endParaRPr b="1" sz="1200">
              <a:solidFill>
                <a:srgbClr val="17365D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95300" y="59878"/>
            <a:ext cx="27495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Survey (I)</a:t>
            </a:r>
            <a:endParaRPr/>
          </a:p>
        </p:txBody>
      </p:sp>
      <p:grpSp>
        <p:nvGrpSpPr>
          <p:cNvPr id="104" name="Google Shape;104;p4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105" name="Google Shape;105;p4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" name="Google Shape;108;p4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" name="Google Shape;110;p4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111" name="Google Shape;111;p4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graphicFrame>
        <p:nvGraphicFramePr>
          <p:cNvPr id="112" name="Google Shape;112;p4"/>
          <p:cNvGraphicFramePr/>
          <p:nvPr/>
        </p:nvGraphicFramePr>
        <p:xfrm>
          <a:off x="132308" y="434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{0A61CCF6-1281-4B08-8082-A438E04AFF27}</a:tableStyleId>
              </a:tblPr>
              <a:tblGrid>
                <a:gridCol w="449325"/>
                <a:gridCol w="1078925"/>
                <a:gridCol w="563025"/>
                <a:gridCol w="1128850"/>
                <a:gridCol w="1123300"/>
              </a:tblGrid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.No</a:t>
                      </a:r>
                      <a:endParaRPr sz="9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 Paper</a:t>
                      </a:r>
                      <a:endParaRPr sz="10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10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Algorithms</a:t>
                      </a: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</a:t>
                      </a:r>
                      <a:endParaRPr sz="10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Limiatations</a:t>
                      </a:r>
                      <a:endParaRPr sz="10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68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0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Predicting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CO2 Emission Levels Using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Techniques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SVM, Linear Regression, Random Forest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accuracy with linear models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generalization across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different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vehicles,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struggle with complex relationships.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800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Fuel Consumption and Emission Prediction Using XGBoost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XGBoost, Gradient Boosting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Requires large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datasets, sensitive  to tuning,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very complex to interpret 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boosted trees.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94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Fuel Consumption and CO₂ Estimation Using Regression Models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Linear Regression, Polynomial Regression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performance on nonlinear data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accuracy compared to ensemble methods</a:t>
                      </a: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Polynomial  regression can overfit 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95300" y="59878"/>
            <a:ext cx="160274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Survey (II)</a:t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75044" y="1035810"/>
            <a:ext cx="4432300" cy="16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6350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19" name="Google Shape;119;p5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120" name="Google Shape;120;p5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3" name="Google Shape;123;p5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" name="Google Shape;125;p5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126" name="Google Shape;126;p5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graphicFrame>
        <p:nvGraphicFramePr>
          <p:cNvPr id="127" name="Google Shape;127;p5"/>
          <p:cNvGraphicFramePr/>
          <p:nvPr/>
        </p:nvGraphicFramePr>
        <p:xfrm>
          <a:off x="95249" y="434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{0A61CCF6-1281-4B08-8082-A438E04AFF27}</a:tableStyleId>
              </a:tblPr>
              <a:tblGrid>
                <a:gridCol w="408525"/>
                <a:gridCol w="1356300"/>
                <a:gridCol w="604625"/>
                <a:gridCol w="898750"/>
                <a:gridCol w="1143875"/>
              </a:tblGrid>
              <a:tr h="46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 Paper</a:t>
                      </a:r>
                      <a:endParaRPr sz="10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</a:t>
                      </a:r>
                      <a:endParaRPr sz="10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Limitations</a:t>
                      </a:r>
                      <a:endParaRPr sz="10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17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CO₂ Emission Rating by Vehicles Using Data Science</a:t>
                      </a: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(IEEE INOCON)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Forest, AdaBoost, XGBoost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 sample size</a:t>
                      </a: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</a:t>
                      </a: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deployment challenges</a:t>
                      </a: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</a:t>
                      </a: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 deep-learning comparison.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117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Machine Learning Framework for Automobile Emission Classification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Trees, Random Forest, KNN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 struggles with high-dimensional data</a:t>
                      </a: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,</a:t>
                      </a: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overfitting in decision</a:t>
                      </a: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trees ,</a:t>
                      </a: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 deployment or real-time system proposed.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/>
        </p:nvSpPr>
        <p:spPr>
          <a:xfrm>
            <a:off x="95300" y="59878"/>
            <a:ext cx="151892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Work Flow Diagram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3" name="Google Shape;133;p6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134" name="Google Shape;134;p6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7" name="Google Shape;137;p6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" name="Google Shape;139;p6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140" name="Google Shape;140;p6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pic>
        <p:nvPicPr>
          <p:cNvPr id="141" name="Google Shape;14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032" y="434975"/>
            <a:ext cx="3315742" cy="2753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95300" y="59878"/>
            <a:ext cx="27495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Techniques &amp; Methods (Overview)</a:t>
            </a:r>
            <a:endParaRPr/>
          </a:p>
        </p:txBody>
      </p:sp>
      <p:grpSp>
        <p:nvGrpSpPr>
          <p:cNvPr id="147" name="Google Shape;147;p7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148" name="Google Shape;148;p7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1" name="Google Shape;151;p7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7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154" name="Google Shape;154;p7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-66994" y="415842"/>
            <a:ext cx="4780476" cy="2985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Data Collection :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Collected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Canada dataset from kaggale having 7380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 vehicles records with 10 parameters like engine size ,cylinders ,fuel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 type ,fuel consumption..etc.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Data Cleaning :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Handling duplicate rows ,Removing unnecessary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 attributes that do not affect emission predictions ,Handling missing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 values.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Encoding Categorical Features :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Categorical attributes such as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 Fuel Type ,Transmission or any non-numeric attributes.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Exploratory Data Analysis(EDA) :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Visualize the data to analyze the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 patterns using scatter plot ,Box Plot and correlation matrix.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Train-Test Splitting :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Dataset  was divided into 80% Training data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 and 20% Testing data 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Converting CO2 Emissions into Class labels :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We Converted CO2 g/km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into categories as Low ,Medium ,High Emissions.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07950" lvl="0" marL="171450" rtl="0" algn="l">
              <a:spcBef>
                <a:spcPts val="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/>
              <a:t>      </a:t>
            </a:r>
            <a:endParaRPr b="1" sz="100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type="ctrTitle"/>
          </p:nvPr>
        </p:nvSpPr>
        <p:spPr>
          <a:xfrm>
            <a:off x="95300" y="59878"/>
            <a:ext cx="175006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AdaBoost</a:t>
            </a:r>
            <a:endParaRPr/>
          </a:p>
        </p:txBody>
      </p:sp>
      <p:grpSp>
        <p:nvGrpSpPr>
          <p:cNvPr id="161" name="Google Shape;161;p8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162" name="Google Shape;162;p8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5" name="Google Shape;165;p8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" name="Google Shape;167;p8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168" name="Google Shape;168;p8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1847850" y="1425575"/>
            <a:ext cx="184731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170" name="Google Shape;170;p8"/>
          <p:cNvSpPr txBox="1"/>
          <p:nvPr/>
        </p:nvSpPr>
        <p:spPr>
          <a:xfrm>
            <a:off x="-58192" y="892175"/>
            <a:ext cx="47244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AdaBoost builds several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weak decision trees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, each learning a small portion of the CO₂ emission pattern.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After each tree is trained,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wrongly predicted vehicles are given higher weight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, so the next tree focuses on harder samples.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New trees are added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one after another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, each correcting the errors of previous ones.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 final CO₂ rating is produced by a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weighted vote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of all the weak learners.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This approach improves accuracy and handles non-linear relationships between features like engine size, fuel type and fuel consumption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type="ctrTitle"/>
          </p:nvPr>
        </p:nvSpPr>
        <p:spPr>
          <a:xfrm>
            <a:off x="95300" y="59878"/>
            <a:ext cx="175006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Random Forest </a:t>
            </a:r>
            <a:endParaRPr/>
          </a:p>
        </p:txBody>
      </p:sp>
      <p:grpSp>
        <p:nvGrpSpPr>
          <p:cNvPr id="176" name="Google Shape;176;p9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177" name="Google Shape;177;p9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0" name="Google Shape;180;p9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9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183" name="Google Shape;183;p9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56108" y="663575"/>
            <a:ext cx="4495800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Random Forest creates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multiple decision trees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using different subsets of the vehicle data and features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(engine size, cylinders, fuel type, etc.).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Each tree independently predicts the CO₂ emission rating for a vehicle.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 model then takes the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majority vote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or average of all trees to give the final prediction.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Using many trees reduces overfitting and improves stability compared to a single decision tree.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It captures complex relationships between features, giving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high accuracy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for CO₂ emission prediction.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95300" y="59878"/>
            <a:ext cx="2003425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XGBoost</a:t>
            </a:r>
            <a:endParaRPr/>
          </a:p>
        </p:txBody>
      </p:sp>
      <p:grpSp>
        <p:nvGrpSpPr>
          <p:cNvPr id="190" name="Google Shape;190;p10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191" name="Google Shape;191;p10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10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4" name="Google Shape;194;p10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10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197" name="Google Shape;197;p10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0" y="815975"/>
            <a:ext cx="4257897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XGBoost builds trees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one after another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, where each new tree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learns from the errors of the previous trees.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It uses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gradient boosting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and advanced regularization 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reduce overfitting.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 algorithm handles complex feature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(engine size, cylinders, fuel consumption) very effectively.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It is extremely fast and accurate because of optimized tree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building and parallel processing.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In this project, XGBoost gives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high accuracy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for predicting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CO₂ emission ratings.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 txBox="1"/>
          <p:nvPr>
            <p:ph type="title"/>
          </p:nvPr>
        </p:nvSpPr>
        <p:spPr>
          <a:xfrm>
            <a:off x="95300" y="59878"/>
            <a:ext cx="274955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Voting Classifier</a:t>
            </a:r>
            <a:endParaRPr/>
          </a:p>
        </p:txBody>
      </p:sp>
      <p:grpSp>
        <p:nvGrpSpPr>
          <p:cNvPr id="204" name="Google Shape;204;p11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205" name="Google Shape;205;p11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11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8" name="Google Shape;208;p11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" name="Google Shape;210;p11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211" name="Google Shape;211;p11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0" y="815975"/>
            <a:ext cx="427552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A Voting Classifier combines predictions from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multiple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like Random Forest, AdaBoost, and XGBoost.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Each model gives its own CO₂ rating, and the final output 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decided by a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majority vote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This method reduces the weakness of any single model and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improves overall stability.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It gives more reliable predictions by using </a:t>
            </a: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collective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    decision-making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of all algorithms.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In this project, the voting ensemble increases robustness and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ensures consistent accuracy.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type="title"/>
          </p:nvPr>
        </p:nvSpPr>
        <p:spPr>
          <a:xfrm>
            <a:off x="95300" y="53975"/>
            <a:ext cx="274955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Scatter Plot</a:t>
            </a:r>
            <a:endParaRPr/>
          </a:p>
        </p:txBody>
      </p:sp>
      <p:grpSp>
        <p:nvGrpSpPr>
          <p:cNvPr id="218" name="Google Shape;218;p12"/>
          <p:cNvGrpSpPr/>
          <p:nvPr/>
        </p:nvGrpSpPr>
        <p:grpSpPr>
          <a:xfrm>
            <a:off x="0" y="754214"/>
            <a:ext cx="4608017" cy="2701989"/>
            <a:chOff x="0" y="754214"/>
            <a:chExt cx="4608017" cy="2701989"/>
          </a:xfrm>
        </p:grpSpPr>
        <p:sp>
          <p:nvSpPr>
            <p:cNvPr id="219" name="Google Shape;219;p12"/>
            <p:cNvSpPr/>
            <p:nvPr/>
          </p:nvSpPr>
          <p:spPr>
            <a:xfrm>
              <a:off x="3814749" y="754214"/>
              <a:ext cx="5080" cy="2592705"/>
            </a:xfrm>
            <a:custGeom>
              <a:rect b="b" l="l" r="r" t="t"/>
              <a:pathLst>
                <a:path extrusionOk="0" h="2592704" w="5079">
                  <a:moveTo>
                    <a:pt x="0" y="2592133"/>
                  </a:moveTo>
                  <a:lnTo>
                    <a:pt x="5054" y="2592133"/>
                  </a:lnTo>
                  <a:lnTo>
                    <a:pt x="5054" y="0"/>
                  </a:lnTo>
                  <a:lnTo>
                    <a:pt x="0" y="0"/>
                  </a:lnTo>
                  <a:lnTo>
                    <a:pt x="0" y="25921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" name="Google Shape;220;p12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" name="Google Shape;221;p12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3" name="Google Shape;223;p12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224" name="Google Shape;224;p12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5" name="Google Shape;225;p12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226" name="Google Shape;226;p12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pic>
        <p:nvPicPr>
          <p:cNvPr id="227" name="Google Shape;22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7099" y="506399"/>
            <a:ext cx="4333818" cy="2604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 txBox="1"/>
          <p:nvPr>
            <p:ph type="title"/>
          </p:nvPr>
        </p:nvSpPr>
        <p:spPr>
          <a:xfrm>
            <a:off x="95300" y="59878"/>
            <a:ext cx="158623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Box Plot</a:t>
            </a:r>
            <a:endParaRPr/>
          </a:p>
        </p:txBody>
      </p:sp>
      <p:grpSp>
        <p:nvGrpSpPr>
          <p:cNvPr id="233" name="Google Shape;233;p13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234" name="Google Shape;234;p13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7" name="Google Shape;237;p13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238" name="Google Shape;238;p13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" name="Google Shape;239;p13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240" name="Google Shape;240;p13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pic>
        <p:nvPicPr>
          <p:cNvPr id="241" name="Google Shape;24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434975"/>
            <a:ext cx="4443060" cy="2692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>
            <p:ph type="ctrTitle"/>
          </p:nvPr>
        </p:nvSpPr>
        <p:spPr>
          <a:xfrm>
            <a:off x="95300" y="59878"/>
            <a:ext cx="259075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Matrix</a:t>
            </a:r>
            <a:endParaRPr/>
          </a:p>
        </p:txBody>
      </p:sp>
      <p:grpSp>
        <p:nvGrpSpPr>
          <p:cNvPr id="247" name="Google Shape;247;p14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248" name="Google Shape;248;p14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1" name="Google Shape;251;p14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252" name="Google Shape;252;p14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3" name="Google Shape;253;p14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254" name="Google Shape;254;p14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pic>
        <p:nvPicPr>
          <p:cNvPr id="255" name="Google Shape;25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914" y="434975"/>
            <a:ext cx="4264188" cy="2819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 txBox="1"/>
          <p:nvPr>
            <p:ph type="title"/>
          </p:nvPr>
        </p:nvSpPr>
        <p:spPr>
          <a:xfrm>
            <a:off x="95300" y="59878"/>
            <a:ext cx="27495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Results: Evaluation Metrics</a:t>
            </a:r>
            <a:endParaRPr/>
          </a:p>
        </p:txBody>
      </p:sp>
      <p:graphicFrame>
        <p:nvGraphicFramePr>
          <p:cNvPr id="261" name="Google Shape;261;p15"/>
          <p:cNvGraphicFramePr/>
          <p:nvPr/>
        </p:nvGraphicFramePr>
        <p:xfrm>
          <a:off x="517893" y="9834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{08FAAB72-5E3C-408F-94BF-3151B4258AF0}</a:tableStyleId>
              </a:tblPr>
              <a:tblGrid>
                <a:gridCol w="1090300"/>
                <a:gridCol w="678175"/>
                <a:gridCol w="671200"/>
                <a:gridCol w="497200"/>
                <a:gridCol w="635000"/>
              </a:tblGrid>
              <a:tr h="2451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Model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6025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Accuracy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6025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Precision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6025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Recall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6025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F1-score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6025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6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AdaBoost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4125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0.945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4125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0.946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4125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0.945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4125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0.945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4125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Random Forest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0.977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0.977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0.977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0.977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XGBoost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0.982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0.982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0.982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0.982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/>
                </a:tc>
              </a:tr>
              <a:tr h="2025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Voting Classifier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0.979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0.979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0.979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6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ahoma"/>
                          <a:ea typeface="Tahoma"/>
                          <a:cs typeface="Tahoma"/>
                          <a:sym typeface="Tahoma"/>
                        </a:rPr>
                        <a:t>0.979</a:t>
                      </a:r>
                      <a:endParaRPr sz="110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15"/>
          <p:cNvSpPr txBox="1"/>
          <p:nvPr/>
        </p:nvSpPr>
        <p:spPr>
          <a:xfrm>
            <a:off x="647610" y="739775"/>
            <a:ext cx="3312795" cy="166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B2"/>
                </a:solidFill>
                <a:latin typeface="Tahoma"/>
                <a:ea typeface="Tahoma"/>
                <a:cs typeface="Tahoma"/>
                <a:sym typeface="Tahoma"/>
              </a:rPr>
              <a:t>Table :  Results of our Dataset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63" name="Google Shape;263;p15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264" name="Google Shape;264;p15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7" name="Google Shape;267;p15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p15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270" name="Google Shape;270;p15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"/>
          <p:cNvSpPr txBox="1"/>
          <p:nvPr>
            <p:ph type="ctrTitle"/>
          </p:nvPr>
        </p:nvSpPr>
        <p:spPr>
          <a:xfrm>
            <a:off x="95300" y="59878"/>
            <a:ext cx="304795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XGBoost Classifier</a:t>
            </a:r>
            <a:endParaRPr/>
          </a:p>
        </p:txBody>
      </p:sp>
      <p:grpSp>
        <p:nvGrpSpPr>
          <p:cNvPr id="276" name="Google Shape;276;p16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277" name="Google Shape;277;p16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0" name="Google Shape;280;p16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2" name="Google Shape;282;p16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283" name="Google Shape;283;p16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43020" y="802579"/>
            <a:ext cx="452197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 XGBoost model achieved 98% classification accuracy.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 model maintains consistent accuracy across all classes,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confirmed by the macro and weighted averages of 0.98.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This proves that XGBoost is the best-performing algorithm among those we tested.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  </a:t>
            </a:r>
            <a:endParaRPr/>
          </a:p>
          <a:p>
            <a:pPr indent="-209550" lvl="0" marL="2857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"/>
          <p:cNvSpPr txBox="1"/>
          <p:nvPr>
            <p:ph type="ctrTitle"/>
          </p:nvPr>
        </p:nvSpPr>
        <p:spPr>
          <a:xfrm>
            <a:off x="95300" y="59878"/>
            <a:ext cx="304795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Confusion Matrix – XGBoost Classifier</a:t>
            </a:r>
            <a:endParaRPr/>
          </a:p>
        </p:txBody>
      </p:sp>
      <p:grpSp>
        <p:nvGrpSpPr>
          <p:cNvPr id="290" name="Google Shape;290;p17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291" name="Google Shape;291;p17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4" name="Google Shape;294;p17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6" name="Google Shape;296;p17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297" name="Google Shape;297;p17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pic>
        <p:nvPicPr>
          <p:cNvPr id="298" name="Google Shape;29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0050" y="429638"/>
            <a:ext cx="3439934" cy="273043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7"/>
          <p:cNvSpPr txBox="1"/>
          <p:nvPr/>
        </p:nvSpPr>
        <p:spPr>
          <a:xfrm>
            <a:off x="-7126" y="2187574"/>
            <a:ext cx="45219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 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2857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"/>
          <p:cNvSpPr txBox="1"/>
          <p:nvPr>
            <p:ph type="ctrTitle"/>
          </p:nvPr>
        </p:nvSpPr>
        <p:spPr>
          <a:xfrm>
            <a:off x="95300" y="59878"/>
            <a:ext cx="3047950" cy="232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Confusion Matrix – XGBoost Classifier</a:t>
            </a:r>
            <a:endParaRPr/>
          </a:p>
        </p:txBody>
      </p:sp>
      <p:grpSp>
        <p:nvGrpSpPr>
          <p:cNvPr id="305" name="Google Shape;305;p18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306" name="Google Shape;306;p18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9" name="Google Shape;309;p18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1" name="Google Shape;311;p18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312" name="Google Shape;312;p18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  <p:pic>
        <p:nvPicPr>
          <p:cNvPr id="313" name="Google Shape;31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850" y="340899"/>
            <a:ext cx="3810000" cy="275766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8"/>
          <p:cNvSpPr txBox="1"/>
          <p:nvPr/>
        </p:nvSpPr>
        <p:spPr>
          <a:xfrm>
            <a:off x="-7126" y="2187574"/>
            <a:ext cx="45219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    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285750" rtl="0" algn="l"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95300" y="59878"/>
            <a:ext cx="27495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pic>
        <p:nvPicPr>
          <p:cNvPr id="320" name="Google Shape;3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089" y="829297"/>
            <a:ext cx="65265" cy="6526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9"/>
          <p:cNvSpPr txBox="1"/>
          <p:nvPr/>
        </p:nvSpPr>
        <p:spPr>
          <a:xfrm>
            <a:off x="377532" y="745857"/>
            <a:ext cx="4091304" cy="1737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marR="16129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Anitha Julian et al., “CO</a:t>
            </a:r>
            <a:r>
              <a:rPr baseline="-25000" lang="en-US" sz="1200"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Emission Rating by Vehicles Using Data Science,” IEEE INOCON 2023.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161290" rtl="0" algn="l">
              <a:lnSpc>
                <a:spcPct val="1026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304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“CO2 Emissions Dataset (Canada) "-  in kaggale </a:t>
            </a:r>
            <a:endParaRPr/>
          </a:p>
          <a:p>
            <a:pPr indent="0" lvl="0" marL="38100" marR="304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304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A Machine Learning Framework for Automobile Emission Classification.(2019)</a:t>
            </a:r>
            <a:endParaRPr/>
          </a:p>
          <a:p>
            <a:pPr indent="0" lvl="0" marL="38100" marR="304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Predicting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 CO2 Emission Levels Using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ML Techniques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.(2021)</a:t>
            </a:r>
            <a:endParaRPr/>
          </a:p>
        </p:txBody>
      </p:sp>
      <p:pic>
        <p:nvPicPr>
          <p:cNvPr id="322" name="Google Shape;3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089" y="1349375"/>
            <a:ext cx="65265" cy="6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723" y="1806575"/>
            <a:ext cx="65265" cy="6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1089" y="2339975"/>
            <a:ext cx="65265" cy="652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5" name="Google Shape;325;p19"/>
          <p:cNvGrpSpPr/>
          <p:nvPr/>
        </p:nvGrpSpPr>
        <p:grpSpPr>
          <a:xfrm>
            <a:off x="0" y="3346348"/>
            <a:ext cx="4608017" cy="109855"/>
            <a:chOff x="0" y="3346348"/>
            <a:chExt cx="4608017" cy="109855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3346348"/>
              <a:ext cx="1536065" cy="109855"/>
            </a:xfrm>
            <a:custGeom>
              <a:rect b="b" l="l" r="r" t="t"/>
              <a:pathLst>
                <a:path extrusionOk="0" h="109854" w="1536065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1535976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3071952" y="3346348"/>
              <a:ext cx="1536065" cy="109855"/>
            </a:xfrm>
            <a:custGeom>
              <a:rect b="b" l="l" r="r" t="t"/>
              <a:pathLst>
                <a:path extrusionOk="0" h="109854" w="153606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9" name="Google Shape;329;p19"/>
          <p:cNvSpPr txBox="1"/>
          <p:nvPr>
            <p:ph idx="10" type="dt"/>
          </p:nvPr>
        </p:nvSpPr>
        <p:spPr>
          <a:xfrm>
            <a:off x="482854" y="3351784"/>
            <a:ext cx="570230" cy="8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Dept. ECE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1730603" y="3351784"/>
            <a:ext cx="1146810" cy="11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</a:t>
            </a:r>
            <a:r>
              <a:rPr baseline="-25000" lang="en-US" sz="75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 </a:t>
            </a:r>
            <a:r>
              <a:rPr lang="en-US" sz="6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Emission Rating by Vehicles</a:t>
            </a:r>
            <a:endParaRPr sz="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1" name="Google Shape;331;p19"/>
          <p:cNvSpPr txBox="1"/>
          <p:nvPr>
            <p:ph idx="11" type="ftr"/>
          </p:nvPr>
        </p:nvSpPr>
        <p:spPr>
          <a:xfrm>
            <a:off x="3405479" y="3351784"/>
            <a:ext cx="640714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December 2, 2025</a:t>
            </a:r>
            <a:endParaRPr/>
          </a:p>
        </p:txBody>
      </p:sp>
      <p:sp>
        <p:nvSpPr>
          <p:cNvPr id="332" name="Google Shape;332;p19"/>
          <p:cNvSpPr txBox="1"/>
          <p:nvPr>
            <p:ph idx="12" type="sldNum"/>
          </p:nvPr>
        </p:nvSpPr>
        <p:spPr>
          <a:xfrm>
            <a:off x="4299369" y="3351784"/>
            <a:ext cx="25400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16</a:t>
            </a:r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2025-12-02T16:04:05Z</dcterms:created>
  <dc:creator>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2025-12-02T00:00:00Z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